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Raleway" panose="020F0502020204030204" pitchFamily="2" charset="0"/>
      <p:regular r:id="rId18"/>
      <p:bold r:id="rId19"/>
      <p:italic r:id="rId20"/>
      <p:boldItalic r:id="rId21"/>
    </p:embeddedFont>
    <p:embeddedFont>
      <p:font typeface="Raleway ExtraLight" panose="020F05020202040302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6f37b07a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6f37b07a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e58fca5fa_2_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7e58fca5fa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e58fca5fa_2_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7e58fca5fa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e58fca5fa_2_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7e58fca5fa_2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7e58fca5fa_2_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7e58fca5fa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7e58fca5fa_2_8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7e58fca5fa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e58fca5fa_2_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7e58fca5fa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e58fca5fa_2_9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7e58fca5fa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7e58fca5fa_2_1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7e58fca5fa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6f2294a241_0_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6f2294a2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7e58fca5fa_2_1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7e58fca5fa_2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f2294a24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f2294a24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Palatino"/>
              <a:buChar char="●"/>
            </a:pP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Predictions at the edge, there by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reducing money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 spent on data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privacy concerns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7e58fca5fa_2_1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7e58fca5fa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7e58fca5fa_2_1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7e58fca5fa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Subtitle" type="tx">
  <p:cSld name="TITLE_AND_BOD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4"/>
          <p:cNvCxnSpPr/>
          <p:nvPr/>
        </p:nvCxnSpPr>
        <p:spPr>
          <a:xfrm>
            <a:off x="285749" y="4547442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58" name="Google Shape;58;p14"/>
          <p:cNvCxnSpPr/>
          <p:nvPr/>
        </p:nvCxnSpPr>
        <p:spPr>
          <a:xfrm>
            <a:off x="285749" y="4574231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259750" y="4644554"/>
            <a:ext cx="8617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200"/>
              <a:buFont typeface="Palatino"/>
              <a:buNone/>
              <a:defRPr sz="1200" i="1">
                <a:solidFill>
                  <a:srgbClr val="5C86B9"/>
                </a:solidFill>
              </a:defRPr>
            </a:lvl1pPr>
            <a:lvl2pPr marL="914400" lvl="1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2pPr>
            <a:lvl3pPr marL="1371600" lvl="2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3pPr>
            <a:lvl4pPr marL="1828800" lvl="3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4pPr>
            <a:lvl5pPr marL="228600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50031" y="3114229"/>
            <a:ext cx="8643900" cy="11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250031" y="4219277"/>
            <a:ext cx="86439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457200" lvl="0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2pPr>
            <a:lvl3pPr marL="1371600" lvl="2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3pPr>
            <a:lvl4pPr marL="1828800" lvl="3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92969" y="2270373"/>
            <a:ext cx="73581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Palatino"/>
              <a:buNone/>
              <a:defRPr sz="1900"/>
            </a:lvl1pPr>
            <a:lvl2pPr marL="914400" lvl="1" indent="-31750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alatino"/>
              <a:buChar char="●"/>
              <a:defRPr sz="1900"/>
            </a:lvl2pPr>
            <a:lvl3pPr marL="1371600" lvl="2" indent="-31750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alatino"/>
              <a:buChar char="●"/>
              <a:defRPr sz="1900"/>
            </a:lvl3pPr>
            <a:lvl4pPr marL="1828800" lvl="3" indent="-31750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alatino"/>
              <a:buChar char="●"/>
              <a:defRPr sz="1900"/>
            </a:lvl4pPr>
            <a:lvl5pPr marL="2286000" lvl="4" indent="-317500" algn="ctr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alatino"/>
              <a:buChar char="●"/>
              <a:defRPr sz="1900"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892969" y="3355330"/>
            <a:ext cx="73581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457200" lvl="0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2pPr>
            <a:lvl3pPr marL="1371600" lvl="2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3pPr>
            <a:lvl4pPr marL="1828800" lvl="3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Horizontal">
  <p:cSld name="Photo - Horizontal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7"/>
          <p:cNvCxnSpPr/>
          <p:nvPr/>
        </p:nvCxnSpPr>
        <p:spPr>
          <a:xfrm>
            <a:off x="285749" y="4547442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2" name="Google Shape;72;p17"/>
          <p:cNvCxnSpPr/>
          <p:nvPr/>
        </p:nvCxnSpPr>
        <p:spPr>
          <a:xfrm>
            <a:off x="285749" y="4574231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259750" y="4644554"/>
            <a:ext cx="86172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200"/>
              <a:buFont typeface="Palatino"/>
              <a:buNone/>
              <a:defRPr sz="1200" i="1">
                <a:solidFill>
                  <a:srgbClr val="5C86B9"/>
                </a:solidFill>
              </a:defRPr>
            </a:lvl1pPr>
            <a:lvl2pPr marL="914400" lvl="1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2pPr>
            <a:lvl3pPr marL="1371600" lvl="2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3pPr>
            <a:lvl4pPr marL="1828800" lvl="3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4pPr>
            <a:lvl5pPr marL="228600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800"/>
              <a:buFont typeface="Palatino"/>
              <a:buChar char="●"/>
              <a:defRPr sz="1200" i="1">
                <a:solidFill>
                  <a:srgbClr val="5C86B9"/>
                </a:solidFill>
              </a:defRPr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>
            <a:spLocks noGrp="1"/>
          </p:cNvSpPr>
          <p:nvPr>
            <p:ph type="pic" idx="2"/>
          </p:nvPr>
        </p:nvSpPr>
        <p:spPr>
          <a:xfrm>
            <a:off x="258961" y="-214312"/>
            <a:ext cx="8626800" cy="4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50031" y="3643313"/>
            <a:ext cx="86439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3"/>
          </p:nvPr>
        </p:nvSpPr>
        <p:spPr>
          <a:xfrm>
            <a:off x="250031" y="4219277"/>
            <a:ext cx="86439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457200" lvl="0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2pPr>
            <a:lvl3pPr marL="1371600" lvl="2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3pPr>
            <a:lvl4pPr marL="1828800" lvl="3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- Centre">
  <p:cSld name="Title - Centr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8"/>
          <p:cNvCxnSpPr/>
          <p:nvPr/>
        </p:nvCxnSpPr>
        <p:spPr>
          <a:xfrm>
            <a:off x="285749" y="2565052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0" name="Google Shape;80;p18"/>
          <p:cNvCxnSpPr/>
          <p:nvPr/>
        </p:nvCxnSpPr>
        <p:spPr>
          <a:xfrm>
            <a:off x="285749" y="2591841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250031" y="1386334"/>
            <a:ext cx="8643900" cy="11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Vertical">
  <p:cSld name="Photo - Vertical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9"/>
          <p:cNvCxnSpPr/>
          <p:nvPr/>
        </p:nvCxnSpPr>
        <p:spPr>
          <a:xfrm>
            <a:off x="285750" y="2779365"/>
            <a:ext cx="4000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5" name="Google Shape;85;p19"/>
          <p:cNvCxnSpPr/>
          <p:nvPr/>
        </p:nvCxnSpPr>
        <p:spPr>
          <a:xfrm>
            <a:off x="285750" y="2806154"/>
            <a:ext cx="4000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6" name="Google Shape;86;p19"/>
          <p:cNvSpPr>
            <a:spLocks noGrp="1"/>
          </p:cNvSpPr>
          <p:nvPr>
            <p:ph type="pic" idx="2"/>
          </p:nvPr>
        </p:nvSpPr>
        <p:spPr>
          <a:xfrm>
            <a:off x="2803922" y="0"/>
            <a:ext cx="81027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250031" y="1017984"/>
            <a:ext cx="4089900" cy="17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250031" y="2853035"/>
            <a:ext cx="40899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  <a:defRPr sz="1500">
                <a:solidFill>
                  <a:srgbClr val="5C86B9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  <a:defRPr sz="1500">
                <a:solidFill>
                  <a:srgbClr val="5C86B9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  <a:defRPr sz="1500">
                <a:solidFill>
                  <a:srgbClr val="5C86B9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  <a:defRPr sz="1500">
                <a:solidFill>
                  <a:srgbClr val="5C86B9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  <a:defRPr sz="1500">
                <a:solidFill>
                  <a:srgbClr val="5C86B9"/>
                </a:solidFill>
              </a:defRPr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1"/>
          </p:nvPr>
        </p:nvSpPr>
        <p:spPr>
          <a:xfrm>
            <a:off x="250031" y="1573857"/>
            <a:ext cx="8643900" cy="3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lvl="0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2pPr>
            <a:lvl3pPr marL="1371600" lvl="2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3pPr>
            <a:lvl4pPr marL="1828800" lvl="3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21"/>
          <p:cNvCxnSpPr/>
          <p:nvPr/>
        </p:nvCxnSpPr>
        <p:spPr>
          <a:xfrm>
            <a:off x="285750" y="1352847"/>
            <a:ext cx="4000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6" name="Google Shape;96;p21"/>
          <p:cNvCxnSpPr/>
          <p:nvPr/>
        </p:nvCxnSpPr>
        <p:spPr>
          <a:xfrm>
            <a:off x="285750" y="1379636"/>
            <a:ext cx="4000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97" name="Google Shape;97;p21"/>
          <p:cNvSpPr>
            <a:spLocks noGrp="1"/>
          </p:cNvSpPr>
          <p:nvPr>
            <p:ph type="pic" idx="2"/>
          </p:nvPr>
        </p:nvSpPr>
        <p:spPr>
          <a:xfrm>
            <a:off x="2134195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40899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1"/>
          </p:nvPr>
        </p:nvSpPr>
        <p:spPr>
          <a:xfrm>
            <a:off x="250031" y="1573857"/>
            <a:ext cx="4089900" cy="3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400"/>
              <a:buChar char="●"/>
              <a:defRPr sz="1900"/>
            </a:lvl1pPr>
            <a:lvl2pPr marL="914400" lvl="1" indent="-3175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400"/>
              <a:buChar char="●"/>
              <a:defRPr sz="1900"/>
            </a:lvl2pPr>
            <a:lvl3pPr marL="1371600" lvl="2" indent="-3175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400"/>
              <a:buChar char="●"/>
              <a:defRPr sz="1900"/>
            </a:lvl3pPr>
            <a:lvl4pPr marL="1828800" lvl="3" indent="-3175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400"/>
              <a:buChar char="●"/>
              <a:defRPr sz="1900"/>
            </a:lvl4pPr>
            <a:lvl5pPr marL="2286000" lvl="4" indent="-3175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400"/>
              <a:buChar char="●"/>
              <a:defRPr sz="1900"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250031" y="234404"/>
            <a:ext cx="8643900" cy="46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lvl="0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1pPr>
            <a:lvl2pPr marL="914400" lvl="1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2pPr>
            <a:lvl3pPr marL="1371600" lvl="2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3pPr>
            <a:lvl4pPr marL="1828800" lvl="3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4pPr>
            <a:lvl5pPr marL="2286000" lvl="4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5pPr>
            <a:lvl6pPr marL="2743200" lvl="5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800"/>
              <a:buChar char="●"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>
            <a:spLocks noGrp="1"/>
          </p:cNvSpPr>
          <p:nvPr>
            <p:ph type="pic" idx="2"/>
          </p:nvPr>
        </p:nvSpPr>
        <p:spPr>
          <a:xfrm>
            <a:off x="4572000" y="2323951"/>
            <a:ext cx="4304100" cy="2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>
            <a:spLocks noGrp="1"/>
          </p:cNvSpPr>
          <p:nvPr>
            <p:ph type="pic" idx="3"/>
          </p:nvPr>
        </p:nvSpPr>
        <p:spPr>
          <a:xfrm>
            <a:off x="4572000" y="227687"/>
            <a:ext cx="4304100" cy="23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>
            <a:spLocks noGrp="1"/>
          </p:cNvSpPr>
          <p:nvPr>
            <p:ph type="pic" idx="4"/>
          </p:nvPr>
        </p:nvSpPr>
        <p:spPr>
          <a:xfrm>
            <a:off x="-2241352" y="234404"/>
            <a:ext cx="8179500" cy="46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>
            <a:spLocks noGrp="1"/>
          </p:cNvSpPr>
          <p:nvPr>
            <p:ph type="pic" idx="2"/>
          </p:nvPr>
        </p:nvSpPr>
        <p:spPr>
          <a:xfrm>
            <a:off x="-241102" y="0"/>
            <a:ext cx="96018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925" tIns="29450" rIns="58925" bIns="29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alatin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  <a:defRPr>
                <a:solidFill>
                  <a:srgbClr val="324863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3"/>
          <p:cNvCxnSpPr/>
          <p:nvPr/>
        </p:nvCxnSpPr>
        <p:spPr>
          <a:xfrm>
            <a:off x="285749" y="1352847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52" name="Google Shape;52;p13"/>
          <p:cNvCxnSpPr/>
          <p:nvPr/>
        </p:nvCxnSpPr>
        <p:spPr>
          <a:xfrm>
            <a:off x="285749" y="1379636"/>
            <a:ext cx="8572500" cy="0"/>
          </a:xfrm>
          <a:prstGeom prst="straightConnector1">
            <a:avLst/>
          </a:prstGeom>
          <a:noFill/>
          <a:ln w="12700" cap="flat" cmpd="sng">
            <a:solidFill>
              <a:srgbClr val="7A96B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  <a:defRPr sz="4100" b="0" i="0" u="none" strike="noStrike" cap="none">
                <a:solidFill>
                  <a:srgbClr val="3148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250031" y="1573857"/>
            <a:ext cx="8643900" cy="3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  <a:defRPr sz="1000" b="0" i="0" u="none" strike="noStrike" cap="none">
                <a:solidFill>
                  <a:srgbClr val="314864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>
            <a:spLocks noGrp="1"/>
          </p:cNvSpPr>
          <p:nvPr>
            <p:ph type="body" idx="1"/>
          </p:nvPr>
        </p:nvSpPr>
        <p:spPr>
          <a:xfrm>
            <a:off x="259750" y="4644554"/>
            <a:ext cx="8617200" cy="2142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250031" y="3114229"/>
            <a:ext cx="8643900" cy="1111800"/>
          </a:xfrm>
          <a:prstGeom prst="rect">
            <a:avLst/>
          </a:prstGeom>
        </p:spPr>
        <p:txBody>
          <a:bodyPr spcFirstLastPara="1" wrap="square" lIns="32750" tIns="32750" rIns="32750" bIns="327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2"/>
          </p:nvPr>
        </p:nvSpPr>
        <p:spPr>
          <a:xfrm>
            <a:off x="250031" y="4219277"/>
            <a:ext cx="8643900" cy="267900"/>
          </a:xfrm>
          <a:prstGeom prst="rect">
            <a:avLst/>
          </a:prstGeom>
        </p:spPr>
        <p:txBody>
          <a:bodyPr spcFirstLastPara="1" wrap="square" lIns="32750" tIns="32750" rIns="32750" bIns="32750" anchor="t" anchorCtr="0">
            <a:noAutofit/>
          </a:bodyPr>
          <a:lstStyle/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1</a:t>
            </a:fld>
            <a:endParaRPr>
              <a:solidFill>
                <a:srgbClr val="314864"/>
              </a:solidFill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38" y="170213"/>
            <a:ext cx="43148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6"/>
          <p:cNvSpPr txBox="1"/>
          <p:nvPr/>
        </p:nvSpPr>
        <p:spPr>
          <a:xfrm>
            <a:off x="2331225" y="1946860"/>
            <a:ext cx="6308700" cy="22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latin typeface="Raleway ExtraLight"/>
                <a:ea typeface="Raleway ExtraLight"/>
                <a:cs typeface="Raleway ExtraLight"/>
                <a:sym typeface="Raleway ExtraLight"/>
              </a:rPr>
              <a:t>Peaky </a:t>
            </a:r>
            <a:r>
              <a:rPr lang="en" sz="7200" b="1">
                <a:latin typeface="Raleway"/>
                <a:ea typeface="Raleway"/>
                <a:cs typeface="Raleway"/>
                <a:sym typeface="Raleway"/>
              </a:rPr>
              <a:t>Blind</a:t>
            </a:r>
            <a:r>
              <a:rPr lang="en" sz="7200">
                <a:latin typeface="Raleway ExtraLight"/>
                <a:ea typeface="Raleway ExtraLight"/>
                <a:cs typeface="Raleway ExtraLight"/>
                <a:sym typeface="Raleway ExtraLight"/>
              </a:rPr>
              <a:t>ers</a:t>
            </a:r>
            <a:endParaRPr sz="7200"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892969" y="2136427"/>
            <a:ext cx="7358063" cy="5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 sz="1900"/>
              <a:t>“Eliminate needless blindness!” </a:t>
            </a:r>
            <a:endParaRPr sz="900"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2"/>
          </p:nvPr>
        </p:nvSpPr>
        <p:spPr>
          <a:xfrm>
            <a:off x="892969" y="3355330"/>
            <a:ext cx="7358063" cy="32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900"/>
              <a:buFont typeface="Arial"/>
              <a:buNone/>
            </a:pPr>
            <a:r>
              <a:rPr lang="en" sz="1900" i="1">
                <a:solidFill>
                  <a:srgbClr val="5C86B9"/>
                </a:solidFill>
              </a:rPr>
              <a:t>–Dr. Venkataswamy</a:t>
            </a:r>
            <a:endParaRPr sz="900"/>
          </a:p>
        </p:txBody>
      </p:sp>
      <p:sp>
        <p:nvSpPr>
          <p:cNvPr id="131" name="Google Shape;131;p27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2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body" idx="1"/>
          </p:nvPr>
        </p:nvSpPr>
        <p:spPr>
          <a:xfrm>
            <a:off x="259749" y="4644554"/>
            <a:ext cx="8617151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 i="1" dirty="0">
                <a:solidFill>
                  <a:srgbClr val="5C86B9"/>
                </a:solidFill>
              </a:rPr>
              <a:t>Date 20 - 02 - 202</a:t>
            </a:r>
            <a:r>
              <a:rPr lang="en" dirty="0"/>
              <a:t>6</a:t>
            </a:r>
            <a:endParaRPr sz="900" dirty="0"/>
          </a:p>
        </p:txBody>
      </p:sp>
      <p:sp>
        <p:nvSpPr>
          <p:cNvPr id="137" name="Google Shape;137;p28"/>
          <p:cNvSpPr txBox="1">
            <a:spLocks noGrp="1"/>
          </p:cNvSpPr>
          <p:nvPr>
            <p:ph type="title"/>
          </p:nvPr>
        </p:nvSpPr>
        <p:spPr>
          <a:xfrm>
            <a:off x="250031" y="3114229"/>
            <a:ext cx="8643937" cy="1111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Diabetic Retinopathy Detection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5469625" y="510750"/>
            <a:ext cx="3401700" cy="27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</a:pPr>
            <a:r>
              <a:rPr lang="en" sz="2000" i="0" u="none" strike="noStrike" cap="none" dirty="0">
                <a:latin typeface="Raleway"/>
                <a:ea typeface="Raleway"/>
                <a:cs typeface="Raleway"/>
                <a:sym typeface="Raleway"/>
              </a:rPr>
              <a:t>Rateesh Kumar P </a:t>
            </a:r>
            <a:endParaRPr sz="2000" i="0" u="none" strike="noStrike" cap="none" dirty="0"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</a:pPr>
            <a:r>
              <a:rPr lang="en" sz="2000" dirty="0">
                <a:latin typeface="Raleway"/>
                <a:ea typeface="Raleway"/>
                <a:cs typeface="Raleway"/>
                <a:sym typeface="Raleway"/>
              </a:rPr>
              <a:t>ED23B040</a:t>
            </a: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500"/>
              <a:buFont typeface="Palatino"/>
              <a:buNone/>
            </a:pPr>
            <a:r>
              <a:rPr lang="en" sz="2000" i="0" u="none" strike="noStrike" cap="none" dirty="0">
                <a:latin typeface="Raleway"/>
                <a:ea typeface="Raleway"/>
                <a:cs typeface="Raleway"/>
                <a:sym typeface="Raleway"/>
              </a:rPr>
              <a:t>IIT MADRAS</a:t>
            </a:r>
            <a:endParaRPr sz="2000" i="0" u="none" strike="noStrike" cap="none" dirty="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9" name="Google Shape;13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918722" cy="296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3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What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is Retinopathy?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9"/>
          <p:cNvSpPr txBox="1">
            <a:spLocks noGrp="1"/>
          </p:cNvSpPr>
          <p:nvPr>
            <p:ph type="body" idx="4294967295"/>
          </p:nvPr>
        </p:nvSpPr>
        <p:spPr>
          <a:xfrm>
            <a:off x="211111" y="1485900"/>
            <a:ext cx="8474102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330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Retinopathy is a condition wh</a:t>
            </a:r>
            <a:r>
              <a:rPr lang="en"/>
              <a:t>ic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h develops in the eye, which if not treated at early stages, could lead to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permanent blindness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.</a:t>
            </a:r>
            <a:endParaRPr sz="900"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A major contributor towards this condition is diabetes and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delayed diagnosis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!!!</a:t>
            </a:r>
            <a:endParaRPr sz="900"/>
          </a:p>
        </p:txBody>
      </p:sp>
      <p:sp>
        <p:nvSpPr>
          <p:cNvPr id="147" name="Google Shape;147;p29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Why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do we care?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0"/>
          <p:cNvSpPr txBox="1">
            <a:spLocks noGrp="1"/>
          </p:cNvSpPr>
          <p:nvPr>
            <p:ph type="body" idx="4294967295"/>
          </p:nvPr>
        </p:nvSpPr>
        <p:spPr>
          <a:xfrm>
            <a:off x="284816" y="1485900"/>
            <a:ext cx="8400398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330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India is said to be the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diabetic capital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of the world by 2030 with over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80 million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people affected by it.</a:t>
            </a:r>
            <a:endParaRPr sz="900"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Unfortunately, more than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2/3rds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of them are from the “</a:t>
            </a:r>
            <a:r>
              <a:rPr lang="en" sz="2400" b="0" i="1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subaltern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”.</a:t>
            </a:r>
            <a:endParaRPr sz="900"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If identified early, this is a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blindness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which can be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avoided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.</a:t>
            </a:r>
            <a:endParaRPr sz="900"/>
          </a:p>
        </p:txBody>
      </p:sp>
      <p:sp>
        <p:nvSpPr>
          <p:cNvPr id="154" name="Google Shape;154;p30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How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are we caring?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4294967295"/>
          </p:nvPr>
        </p:nvSpPr>
        <p:spPr>
          <a:xfrm>
            <a:off x="238179" y="1485900"/>
            <a:ext cx="84471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330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A 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ML model on the edge, </a:t>
            </a:r>
            <a:r>
              <a:rPr lang="en"/>
              <a:t>w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ith foc</a:t>
            </a:r>
            <a:r>
              <a:rPr lang="en"/>
              <a:t>us on </a:t>
            </a:r>
            <a:r>
              <a:rPr lang="en" b="1"/>
              <a:t>privacy</a:t>
            </a:r>
            <a:r>
              <a:rPr lang="en"/>
              <a:t>, </a:t>
            </a:r>
            <a:r>
              <a:rPr lang="en" b="1"/>
              <a:t>scalability</a:t>
            </a:r>
            <a:r>
              <a:rPr lang="en"/>
              <a:t> and </a:t>
            </a:r>
            <a:r>
              <a:rPr lang="en" b="1"/>
              <a:t>interpretability</a:t>
            </a:r>
            <a:r>
              <a:rPr lang="en"/>
              <a:t>.</a:t>
            </a:r>
            <a:endParaRPr/>
          </a:p>
          <a:p>
            <a:pPr marL="330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30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Matching cases based on </a:t>
            </a:r>
            <a:r>
              <a:rPr lang="en" b="1"/>
              <a:t>severity</a:t>
            </a:r>
            <a:r>
              <a:rPr lang="en"/>
              <a:t> and </a:t>
            </a:r>
            <a:r>
              <a:rPr lang="en" b="1"/>
              <a:t>time</a:t>
            </a:r>
            <a:r>
              <a:rPr lang="en"/>
              <a:t> for immediate diagnosis.</a:t>
            </a:r>
            <a:endParaRPr sz="900"/>
          </a:p>
        </p:txBody>
      </p:sp>
      <p:sp>
        <p:nvSpPr>
          <p:cNvPr id="161" name="Google Shape;161;p31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0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Who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is our product intended for?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2"/>
          <p:cNvSpPr txBox="1">
            <a:spLocks noGrp="1"/>
          </p:cNvSpPr>
          <p:nvPr>
            <p:ph type="body" idx="4294967295"/>
          </p:nvPr>
        </p:nvSpPr>
        <p:spPr>
          <a:xfrm>
            <a:off x="458787" y="1485900"/>
            <a:ext cx="8226426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330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For rural areas (Tier 4 cities)</a:t>
            </a:r>
            <a:r>
              <a:rPr lang="en" dirty="0"/>
              <a:t>, 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which ha</a:t>
            </a:r>
            <a:r>
              <a:rPr lang="en" dirty="0"/>
              <a:t>s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small dispensaries and can afford a fun</a:t>
            </a:r>
            <a:r>
              <a:rPr lang="en" dirty="0"/>
              <a:t>d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us camera, but </a:t>
            </a:r>
            <a:r>
              <a:rPr lang="en" sz="2400" b="1" i="0" u="none" strike="noStrike" cap="none" dirty="0">
                <a:solidFill>
                  <a:srgbClr val="000000"/>
                </a:solidFill>
              </a:rPr>
              <a:t>don’t have expert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medical professionals available.</a:t>
            </a:r>
            <a:endParaRPr sz="900" dirty="0"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A </a:t>
            </a:r>
            <a:r>
              <a:rPr lang="en" sz="2400" b="1" i="0" u="none" strike="noStrike" cap="none" dirty="0">
                <a:solidFill>
                  <a:srgbClr val="000000"/>
                </a:solidFill>
              </a:rPr>
              <a:t>tool</a:t>
            </a:r>
            <a:r>
              <a:rPr lang="en" sz="2400" b="0" i="0" u="none" strike="noStrike" cap="none" dirty="0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for doctors to prioritise cases based on the severity of </a:t>
            </a:r>
            <a:r>
              <a:rPr lang="en" dirty="0"/>
              <a:t>the condition.</a:t>
            </a:r>
            <a:endParaRPr dirty="0"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For anyone who wants to make healthcare affordable and accurate.</a:t>
            </a:r>
            <a:endParaRPr dirty="0"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Technical Roadmap of the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33"/>
          <p:cNvCxnSpPr/>
          <p:nvPr/>
        </p:nvCxnSpPr>
        <p:spPr>
          <a:xfrm>
            <a:off x="3138456" y="1765321"/>
            <a:ext cx="1446078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5" name="Google Shape;175;p33"/>
          <p:cNvSpPr txBox="1"/>
          <p:nvPr/>
        </p:nvSpPr>
        <p:spPr>
          <a:xfrm>
            <a:off x="409409" y="1613695"/>
            <a:ext cx="1949977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324863"/>
                </a:solidFill>
                <a:latin typeface="Arial"/>
                <a:ea typeface="Arial"/>
                <a:cs typeface="Arial"/>
                <a:sym typeface="Arial"/>
              </a:rPr>
              <a:t>Gather datasets</a:t>
            </a:r>
            <a:endParaRPr sz="900"/>
          </a:p>
        </p:txBody>
      </p:sp>
      <p:sp>
        <p:nvSpPr>
          <p:cNvPr id="176" name="Google Shape;176;p33"/>
          <p:cNvSpPr txBox="1"/>
          <p:nvPr/>
        </p:nvSpPr>
        <p:spPr>
          <a:xfrm>
            <a:off x="4963375" y="1613695"/>
            <a:ext cx="3558124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324863"/>
                </a:solidFill>
                <a:latin typeface="Arial"/>
                <a:ea typeface="Arial"/>
                <a:cs typeface="Arial"/>
                <a:sym typeface="Arial"/>
              </a:rPr>
              <a:t>Build a Deep learning model</a:t>
            </a:r>
            <a:endParaRPr sz="900"/>
          </a:p>
        </p:txBody>
      </p:sp>
      <p:cxnSp>
        <p:nvCxnSpPr>
          <p:cNvPr id="177" name="Google Shape;177;p33"/>
          <p:cNvCxnSpPr/>
          <p:nvPr/>
        </p:nvCxnSpPr>
        <p:spPr>
          <a:xfrm>
            <a:off x="6742436" y="2010592"/>
            <a:ext cx="1" cy="315886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8" name="Google Shape;178;p33"/>
          <p:cNvSpPr txBox="1"/>
          <p:nvPr/>
        </p:nvSpPr>
        <p:spPr>
          <a:xfrm>
            <a:off x="4631459" y="2420124"/>
            <a:ext cx="4221956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324863"/>
                </a:solidFill>
                <a:latin typeface="Arial"/>
                <a:ea typeface="Arial"/>
                <a:cs typeface="Arial"/>
                <a:sym typeface="Arial"/>
              </a:rPr>
              <a:t>Build a user interface for the app</a:t>
            </a:r>
            <a:endParaRPr sz="900"/>
          </a:p>
        </p:txBody>
      </p:sp>
      <p:cxnSp>
        <p:nvCxnSpPr>
          <p:cNvPr id="179" name="Google Shape;179;p33"/>
          <p:cNvCxnSpPr/>
          <p:nvPr/>
        </p:nvCxnSpPr>
        <p:spPr>
          <a:xfrm flipH="1">
            <a:off x="3138456" y="2571750"/>
            <a:ext cx="1446078" cy="1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0" name="Google Shape;180;p33"/>
          <p:cNvSpPr txBox="1"/>
          <p:nvPr/>
        </p:nvSpPr>
        <p:spPr>
          <a:xfrm>
            <a:off x="-4331" y="2292876"/>
            <a:ext cx="2980137" cy="55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324863"/>
                </a:solidFill>
                <a:latin typeface="Arial"/>
                <a:ea typeface="Arial"/>
                <a:cs typeface="Arial"/>
                <a:sym typeface="Arial"/>
              </a:rPr>
              <a:t>Look at deployment strategies </a:t>
            </a:r>
            <a:endParaRPr sz="900"/>
          </a:p>
        </p:txBody>
      </p:sp>
      <p:sp>
        <p:nvSpPr>
          <p:cNvPr id="181" name="Google Shape;181;p33"/>
          <p:cNvSpPr/>
          <p:nvPr/>
        </p:nvSpPr>
        <p:spPr>
          <a:xfrm>
            <a:off x="106814" y="1555831"/>
            <a:ext cx="2962277" cy="41898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3248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/>
          <p:nvPr/>
        </p:nvSpPr>
        <p:spPr>
          <a:xfrm>
            <a:off x="4653900" y="1555831"/>
            <a:ext cx="4204096" cy="41898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3248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3"/>
          <p:cNvSpPr/>
          <p:nvPr/>
        </p:nvSpPr>
        <p:spPr>
          <a:xfrm>
            <a:off x="4640389" y="2362260"/>
            <a:ext cx="4204200" cy="4191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3248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3"/>
          <p:cNvSpPr/>
          <p:nvPr/>
        </p:nvSpPr>
        <p:spPr>
          <a:xfrm>
            <a:off x="93303" y="2248858"/>
            <a:ext cx="2962277" cy="645783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3248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33"/>
          <p:cNvCxnSpPr/>
          <p:nvPr/>
        </p:nvCxnSpPr>
        <p:spPr>
          <a:xfrm>
            <a:off x="1574441" y="2969184"/>
            <a:ext cx="1" cy="303252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p33"/>
          <p:cNvSpPr txBox="1"/>
          <p:nvPr/>
        </p:nvSpPr>
        <p:spPr>
          <a:xfrm>
            <a:off x="-4331" y="3390996"/>
            <a:ext cx="3044149" cy="55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r>
              <a:rPr lang="en" sz="1900" b="0" i="0" u="none" strike="noStrike" cap="none">
                <a:solidFill>
                  <a:srgbClr val="324863"/>
                </a:solidFill>
                <a:latin typeface="Arial"/>
                <a:ea typeface="Arial"/>
                <a:cs typeface="Arial"/>
                <a:sym typeface="Arial"/>
              </a:rPr>
              <a:t>Utilise the new data to make the model better</a:t>
            </a:r>
            <a:endParaRPr sz="900"/>
          </a:p>
        </p:txBody>
      </p:sp>
      <p:sp>
        <p:nvSpPr>
          <p:cNvPr id="187" name="Google Shape;187;p33"/>
          <p:cNvSpPr/>
          <p:nvPr/>
        </p:nvSpPr>
        <p:spPr>
          <a:xfrm>
            <a:off x="93303" y="3346978"/>
            <a:ext cx="2962277" cy="645784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3248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3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600" i="0" u="none" strike="noStrike" cap="none">
                <a:solidFill>
                  <a:srgbClr val="314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4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95" name="Google Shape;195;p34"/>
          <p:cNvSpPr/>
          <p:nvPr/>
        </p:nvSpPr>
        <p:spPr>
          <a:xfrm>
            <a:off x="371825" y="1927100"/>
            <a:ext cx="421500" cy="495900"/>
          </a:xfrm>
          <a:prstGeom prst="smileyFace">
            <a:avLst>
              <a:gd name="adj" fmla="val 4653"/>
            </a:avLst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894925" y="2137925"/>
            <a:ext cx="706500" cy="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5674575" y="1794000"/>
            <a:ext cx="1407402" cy="1307502"/>
          </a:xfrm>
          <a:prstGeom prst="flowChartMultidocumen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Predictions available on dashboard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4923550" y="2258750"/>
            <a:ext cx="706500" cy="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4"/>
          <p:cNvSpPr/>
          <p:nvPr/>
        </p:nvSpPr>
        <p:spPr>
          <a:xfrm rot="5400000">
            <a:off x="7674975" y="1710350"/>
            <a:ext cx="254100" cy="1350900"/>
          </a:xfrm>
          <a:prstGeom prst="bentArrow">
            <a:avLst>
              <a:gd name="adj1" fmla="val 25000"/>
              <a:gd name="adj2" fmla="val 21949"/>
              <a:gd name="adj3" fmla="val 3291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34"/>
          <p:cNvSpPr/>
          <p:nvPr/>
        </p:nvSpPr>
        <p:spPr>
          <a:xfrm>
            <a:off x="8137925" y="2701925"/>
            <a:ext cx="532800" cy="557700"/>
          </a:xfrm>
          <a:prstGeom prst="smileyFace">
            <a:avLst>
              <a:gd name="adj" fmla="val 4653"/>
            </a:avLst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4"/>
          <p:cNvSpPr txBox="1"/>
          <p:nvPr/>
        </p:nvSpPr>
        <p:spPr>
          <a:xfrm rot="1261">
            <a:off x="257439" y="1610702"/>
            <a:ext cx="8181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Patient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7200900" y="2937375"/>
            <a:ext cx="8181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Doctor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03" name="Google Shape;203;p34"/>
          <p:cNvSpPr/>
          <p:nvPr/>
        </p:nvSpPr>
        <p:spPr>
          <a:xfrm rot="10800000">
            <a:off x="3478800" y="4502050"/>
            <a:ext cx="4949100" cy="235500"/>
          </a:xfrm>
          <a:prstGeom prst="uturnArrow">
            <a:avLst>
              <a:gd name="adj1" fmla="val 25000"/>
              <a:gd name="adj2" fmla="val 25000"/>
              <a:gd name="adj3" fmla="val 0"/>
              <a:gd name="adj4" fmla="val 43750"/>
              <a:gd name="adj5" fmla="val 10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4"/>
          <p:cNvSpPr txBox="1"/>
          <p:nvPr/>
        </p:nvSpPr>
        <p:spPr>
          <a:xfrm>
            <a:off x="5162475" y="4179875"/>
            <a:ext cx="3111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Send appointment request based on our analysis + doctors call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738125" y="2850575"/>
            <a:ext cx="8181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Alert Patients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1703013" y="1520325"/>
            <a:ext cx="3344100" cy="229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     Our system deployed in clinics.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2032600" y="1821925"/>
            <a:ext cx="1115400" cy="749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Retinal Fundus Image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3230225" y="2204475"/>
            <a:ext cx="532800" cy="7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4"/>
          <p:cNvSpPr/>
          <p:nvPr/>
        </p:nvSpPr>
        <p:spPr>
          <a:xfrm>
            <a:off x="3925950" y="1819325"/>
            <a:ext cx="997500" cy="749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alatino"/>
                <a:ea typeface="Palatino"/>
                <a:cs typeface="Palatino"/>
                <a:sym typeface="Palatino"/>
              </a:rPr>
              <a:t>ML Model on the edge </a:t>
            </a: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10" name="Google Shape;210;p34"/>
          <p:cNvSpPr/>
          <p:nvPr/>
        </p:nvSpPr>
        <p:spPr>
          <a:xfrm>
            <a:off x="8348384" y="3310150"/>
            <a:ext cx="111900" cy="1191900"/>
          </a:xfrm>
          <a:prstGeom prst="downArrow">
            <a:avLst>
              <a:gd name="adj1" fmla="val 50000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4"/>
          <p:cNvSpPr/>
          <p:nvPr/>
        </p:nvSpPr>
        <p:spPr>
          <a:xfrm>
            <a:off x="3478825" y="3828838"/>
            <a:ext cx="111900" cy="6576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2" name="Google Shape;212;p34"/>
          <p:cNvCxnSpPr>
            <a:endCxn id="195" idx="4"/>
          </p:cNvCxnSpPr>
          <p:nvPr/>
        </p:nvCxnSpPr>
        <p:spPr>
          <a:xfrm rot="10800000">
            <a:off x="582575" y="2423000"/>
            <a:ext cx="1500" cy="21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213;p34"/>
          <p:cNvCxnSpPr>
            <a:stCxn id="206" idx="1"/>
          </p:cNvCxnSpPr>
          <p:nvPr/>
        </p:nvCxnSpPr>
        <p:spPr>
          <a:xfrm flipH="1">
            <a:off x="559113" y="2666775"/>
            <a:ext cx="11439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 i="0" u="none" strike="noStrike" cap="none">
                <a:solidFill>
                  <a:srgbClr val="314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lang="en" sz="3600" i="0" u="none" strike="noStrike" cap="none">
                <a:solidFill>
                  <a:srgbClr val="314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Overview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4294967295"/>
          </p:nvPr>
        </p:nvSpPr>
        <p:spPr>
          <a:xfrm>
            <a:off x="272224" y="958775"/>
            <a:ext cx="83985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Mobilenet_v2 backbone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Fully Connected Network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GradCAM Score matching for heatmaps</a:t>
            </a:r>
            <a:endParaRPr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Better interpretability of models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Future: Self attention layers to remove CNN from the picture, thereby cutting model params by 10x</a:t>
            </a: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Progress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6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27" name="Google Shape;227;p36"/>
          <p:cNvSpPr txBox="1"/>
          <p:nvPr/>
        </p:nvSpPr>
        <p:spPr>
          <a:xfrm>
            <a:off x="383025" y="1538225"/>
            <a:ext cx="7879500" cy="3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500550" y="1406700"/>
            <a:ext cx="8142900" cy="3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700"/>
              <a:buChar char="●"/>
            </a:pP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Accuracy of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68%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 on a production data of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103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 images for the base-model. Model was trained on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440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 images.</a:t>
            </a: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Palatino"/>
              <a:buChar char="●"/>
            </a:pP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A web-based system for interaction of doctors with clinics.</a:t>
            </a: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229" name="Google Shape;229;p36"/>
          <p:cNvPicPr preferRelativeResize="0"/>
          <p:nvPr/>
        </p:nvPicPr>
        <p:blipFill rotWithShape="1">
          <a:blip r:embed="rId3">
            <a:alphaModFix/>
          </a:blip>
          <a:srcRect l="1951" b="7424"/>
          <a:stretch/>
        </p:blipFill>
        <p:spPr>
          <a:xfrm>
            <a:off x="2168725" y="3216300"/>
            <a:ext cx="4806525" cy="183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>
            <a:spLocks noGrp="1"/>
          </p:cNvSpPr>
          <p:nvPr>
            <p:ph type="title"/>
          </p:nvPr>
        </p:nvSpPr>
        <p:spPr>
          <a:xfrm>
            <a:off x="250050" y="656876"/>
            <a:ext cx="8643900" cy="827100"/>
          </a:xfrm>
          <a:prstGeom prst="rect">
            <a:avLst/>
          </a:prstGeom>
        </p:spPr>
        <p:txBody>
          <a:bodyPr spcFirstLastPara="1" wrap="square" lIns="32750" tIns="32750" rIns="32750" bIns="32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Business 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Plans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9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50" name="Google Shape;250;p39"/>
          <p:cNvSpPr txBox="1"/>
          <p:nvPr/>
        </p:nvSpPr>
        <p:spPr>
          <a:xfrm>
            <a:off x="385125" y="1639950"/>
            <a:ext cx="7814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700"/>
              <a:buChar char="●"/>
            </a:pP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Profit sharing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, by helping in public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health care campaigns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, with local hospitals</a:t>
            </a: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Palatino"/>
              <a:buChar char="●"/>
            </a:pP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Charging a very </a:t>
            </a:r>
            <a:r>
              <a:rPr lang="en" sz="2400" b="1">
                <a:latin typeface="Palatino"/>
                <a:ea typeface="Palatino"/>
                <a:cs typeface="Palatino"/>
                <a:sym typeface="Palatino"/>
              </a:rPr>
              <a:t>nominal amount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 for using the software at dispensaries.</a:t>
            </a: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alatino"/>
              <a:ea typeface="Palatino"/>
              <a:cs typeface="Palatino"/>
              <a:sym typeface="Palatin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700"/>
              <a:buFont typeface="Palatino"/>
              <a:buChar char="●"/>
            </a:pP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“Your data is only your data </a:t>
            </a:r>
            <a:r>
              <a:rPr lang="en" sz="2400" i="1">
                <a:latin typeface="Palatino"/>
                <a:ea typeface="Palatino"/>
                <a:cs typeface="Palatino"/>
                <a:sym typeface="Palatino"/>
              </a:rPr>
              <a:t>none of our data ;-)</a:t>
            </a:r>
            <a:r>
              <a:rPr lang="en" sz="2400">
                <a:latin typeface="Palatino"/>
                <a:ea typeface="Palatino"/>
                <a:cs typeface="Palatino"/>
                <a:sym typeface="Palatino"/>
              </a:rPr>
              <a:t>”</a:t>
            </a:r>
            <a:endParaRPr sz="1700" b="1"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>
            <a:spLocks noGrp="1"/>
          </p:cNvSpPr>
          <p:nvPr>
            <p:ph type="title"/>
          </p:nvPr>
        </p:nvSpPr>
        <p:spPr>
          <a:xfrm>
            <a:off x="250031" y="234404"/>
            <a:ext cx="8643937" cy="107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4100"/>
              <a:buFont typeface="Arial"/>
              <a:buNone/>
            </a:pPr>
            <a:r>
              <a:rPr lang="en" sz="3600" b="1">
                <a:latin typeface="Times New Roman"/>
                <a:ea typeface="Times New Roman"/>
                <a:cs typeface="Times New Roman"/>
                <a:sym typeface="Times New Roman"/>
              </a:rPr>
              <a:t>Future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Directions: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40"/>
          <p:cNvSpPr txBox="1">
            <a:spLocks noGrp="1"/>
          </p:cNvSpPr>
          <p:nvPr>
            <p:ph type="body" idx="4294967295"/>
          </p:nvPr>
        </p:nvSpPr>
        <p:spPr>
          <a:xfrm>
            <a:off x="299535" y="1485900"/>
            <a:ext cx="8385678" cy="365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330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b="1"/>
              <a:t>D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eploy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on edge devices</a:t>
            </a:r>
            <a:endParaRPr sz="900"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Predict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more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than 5 stage diabetic retinopathy, </a:t>
            </a:r>
            <a:r>
              <a:rPr lang="en"/>
              <a:t>like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other biological conditions based on the retinal image.</a:t>
            </a:r>
            <a:endParaRPr sz="2400" b="0" i="0" u="none" strike="noStrike" cap="none">
              <a:solidFill>
                <a:srgbClr val="000000"/>
              </a:solidFill>
              <a:latin typeface="Palatino"/>
              <a:ea typeface="Palatino"/>
              <a:cs typeface="Palatino"/>
              <a:sym typeface="Palatino"/>
            </a:endParaRPr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b="1"/>
              <a:t>Split Learning </a:t>
            </a:r>
            <a:r>
              <a:rPr lang="en"/>
              <a:t>and</a:t>
            </a:r>
            <a:r>
              <a:rPr lang="en" b="1"/>
              <a:t> Differential Privacy</a:t>
            </a:r>
            <a:r>
              <a:rPr lang="en"/>
              <a:t> to preserve privacy.</a:t>
            </a:r>
            <a:endParaRPr/>
          </a:p>
          <a:p>
            <a:pPr marL="330200" lvl="0" indent="-3238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700"/>
              <a:buChar char="●"/>
            </a:pPr>
            <a:r>
              <a:rPr lang="en" sz="2400" b="1" i="0" u="none" strike="noStrike" cap="none">
                <a:solidFill>
                  <a:srgbClr val="000000"/>
                </a:solidFill>
              </a:rPr>
              <a:t>Weak Supervision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and </a:t>
            </a:r>
            <a:r>
              <a:rPr lang="en" sz="2400" b="1" i="0" u="none" strike="noStrike" cap="none">
                <a:solidFill>
                  <a:srgbClr val="000000"/>
                </a:solidFill>
              </a:rPr>
              <a:t>Meta Learning</a:t>
            </a:r>
            <a:r>
              <a:rPr lang="en" sz="2400" b="0" i="0" u="none" strike="noStrike" cap="none">
                <a:solidFill>
                  <a:srgbClr val="000000"/>
                </a:solidFill>
                <a:latin typeface="Palatino"/>
                <a:ea typeface="Palatino"/>
                <a:cs typeface="Palatino"/>
                <a:sym typeface="Palatino"/>
              </a:rPr>
              <a:t> algorithms can be used to deploy this for a larger set of images.</a:t>
            </a:r>
            <a:endParaRPr sz="900"/>
          </a:p>
        </p:txBody>
      </p:sp>
      <p:sp>
        <p:nvSpPr>
          <p:cNvPr id="257" name="Google Shape;257;p40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14864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>
            <a:spLocks noGrp="1"/>
          </p:cNvSpPr>
          <p:nvPr>
            <p:ph type="body" idx="1"/>
          </p:nvPr>
        </p:nvSpPr>
        <p:spPr>
          <a:xfrm>
            <a:off x="892969" y="2136427"/>
            <a:ext cx="7358063" cy="58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 sz="1900" dirty="0"/>
              <a:t>“Any significant advancement in computer science will be indistinguishable from magic!” </a:t>
            </a:r>
            <a:endParaRPr sz="900" dirty="0"/>
          </a:p>
        </p:txBody>
      </p:sp>
      <p:sp>
        <p:nvSpPr>
          <p:cNvPr id="263" name="Google Shape;263;p41"/>
          <p:cNvSpPr txBox="1">
            <a:spLocks noGrp="1"/>
          </p:cNvSpPr>
          <p:nvPr>
            <p:ph type="body" idx="2"/>
          </p:nvPr>
        </p:nvSpPr>
        <p:spPr>
          <a:xfrm>
            <a:off x="892969" y="3355330"/>
            <a:ext cx="7358063" cy="321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6B9"/>
              </a:buClr>
              <a:buSzPts val="1900"/>
              <a:buFont typeface="Arial"/>
              <a:buNone/>
            </a:pPr>
            <a:r>
              <a:rPr lang="en" sz="1900" i="1" dirty="0">
                <a:solidFill>
                  <a:srgbClr val="5C86B9"/>
                </a:solidFill>
              </a:rPr>
              <a:t>–Arthur C Clarke</a:t>
            </a:r>
            <a:endParaRPr sz="900" dirty="0"/>
          </a:p>
        </p:txBody>
      </p:sp>
      <p:sp>
        <p:nvSpPr>
          <p:cNvPr id="264" name="Google Shape;264;p41"/>
          <p:cNvSpPr txBox="1"/>
          <p:nvPr/>
        </p:nvSpPr>
        <p:spPr>
          <a:xfrm>
            <a:off x="2187551" y="1265413"/>
            <a:ext cx="47688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900"/>
              <a:buFont typeface="Arial"/>
              <a:buNone/>
            </a:pPr>
            <a:r>
              <a:rPr lang="en" sz="3600" i="0" u="none" strike="noStrike" cap="none">
                <a:solidFill>
                  <a:srgbClr val="324863"/>
                </a:solidFill>
                <a:latin typeface="Raleway ExtraLight"/>
                <a:ea typeface="Raleway ExtraLight"/>
                <a:cs typeface="Raleway ExtraLight"/>
                <a:sym typeface="Raleway ExtraLight"/>
              </a:rPr>
              <a:t>Thank You</a:t>
            </a:r>
            <a:endParaRPr sz="3600">
              <a:latin typeface="Raleway ExtraLight"/>
              <a:ea typeface="Raleway ExtraLight"/>
              <a:cs typeface="Raleway ExtraLight"/>
              <a:sym typeface="Raleway ExtraLight"/>
            </a:endParaRPr>
          </a:p>
        </p:txBody>
      </p:sp>
      <p:sp>
        <p:nvSpPr>
          <p:cNvPr id="265" name="Google Shape;265;p41"/>
          <p:cNvSpPr txBox="1">
            <a:spLocks noGrp="1"/>
          </p:cNvSpPr>
          <p:nvPr>
            <p:ph type="sldNum" idx="12"/>
          </p:nvPr>
        </p:nvSpPr>
        <p:spPr>
          <a:xfrm>
            <a:off x="8670727" y="4862214"/>
            <a:ext cx="223200" cy="187500"/>
          </a:xfrm>
          <a:prstGeom prst="rect">
            <a:avLst/>
          </a:prstGeom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24863"/>
              </a:buClr>
              <a:buSzPts val="1000"/>
              <a:buFont typeface="Palatino"/>
              <a:buNone/>
            </a:pPr>
            <a:fld id="{00000000-1234-1234-1234-123412341234}" type="slidenum">
              <a:rPr lang="en"/>
              <a:t>14</a:t>
            </a:fld>
            <a:endParaRPr>
              <a:solidFill>
                <a:srgbClr val="31486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itorial">
  <a:themeElements>
    <a:clrScheme name="Editorial">
      <a:dk1>
        <a:srgbClr val="324863"/>
      </a:dk1>
      <a:lt1>
        <a:srgbClr val="634D31"/>
      </a:lt1>
      <a:dk2>
        <a:srgbClr val="A7A7A7"/>
      </a:dk2>
      <a:lt2>
        <a:srgbClr val="535353"/>
      </a:lt2>
      <a:accent1>
        <a:srgbClr val="4D76A4"/>
      </a:accent1>
      <a:accent2>
        <a:srgbClr val="729460"/>
      </a:accent2>
      <a:accent3>
        <a:srgbClr val="D6AD40"/>
      </a:accent3>
      <a:accent4>
        <a:srgbClr val="DC7D39"/>
      </a:accent4>
      <a:accent5>
        <a:srgbClr val="C36061"/>
      </a:accent5>
      <a:accent6>
        <a:srgbClr val="7E64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On-screen Show (16:9)</PresentationFormat>
  <Paragraphs>86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Times New Roman</vt:lpstr>
      <vt:lpstr>Raleway ExtraLight</vt:lpstr>
      <vt:lpstr>Raleway</vt:lpstr>
      <vt:lpstr>Palatino</vt:lpstr>
      <vt:lpstr>Simple Light</vt:lpstr>
      <vt:lpstr>Editorial</vt:lpstr>
      <vt:lpstr>PowerPoint Presentation</vt:lpstr>
      <vt:lpstr>PowerPoint Presentation</vt:lpstr>
      <vt:lpstr>Diabetic Retinopathy Detection</vt:lpstr>
      <vt:lpstr>What is Retinopathy?</vt:lpstr>
      <vt:lpstr>Why do we care?</vt:lpstr>
      <vt:lpstr>How are we caring?</vt:lpstr>
      <vt:lpstr>Who is our product intended for?</vt:lpstr>
      <vt:lpstr>Technical Roadmap of the System</vt:lpstr>
      <vt:lpstr>Process Overview</vt:lpstr>
      <vt:lpstr>Model Overview</vt:lpstr>
      <vt:lpstr>Current Progress</vt:lpstr>
      <vt:lpstr>Business Plans </vt:lpstr>
      <vt:lpstr>Future Directions: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rateesh kumar</dc:creator>
  <cp:lastModifiedBy>rateesh kumar</cp:lastModifiedBy>
  <cp:revision>1</cp:revision>
  <dcterms:modified xsi:type="dcterms:W3CDTF">2026-06-16T14:03:34Z</dcterms:modified>
</cp:coreProperties>
</file>